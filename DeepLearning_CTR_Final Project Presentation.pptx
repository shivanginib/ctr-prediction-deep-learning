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8791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4600822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556320D-79AE-42B4-8D4F-7576863C4999}" type="datetimeFigureOut">
              <a:rPr lang="en-IN"/>
              <a:t>02-04-2025</a:t>
            </a:fld>
            <a:endParaRPr lang="en-IN"/>
          </a:p>
        </p:txBody>
      </p:sp>
      <p:sp>
        <p:nvSpPr>
          <p:cNvPr id="6665939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7960983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18058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292863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5E51CA8-D0CC-4049-B46E-4D54B31FC5A1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4D3AC3-9C8D-C3E9-DFED-FDF0F94CEB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3DEC9C-36E2-BF23-89A0-9D04CB9732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264B2C-E649-5158-0AD7-E1D7203BA4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09BE9-0288-B99B-C404-3E270D2EB8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560E6D-39B3-CA20-66B7-09C3F99691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558B01-1258-228D-9ABA-DA323ECCC7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7BDBDB-6D3A-69F3-CB2D-454C5E9965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C4E1A2-7109-B241-F13F-95BEE45C47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0E5A6-77A8-4E4E-0A04-F15C98124A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619E8B-874D-4DDF-9D95-5B6A471FC2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CA830E-A899-52B4-5C65-CE4E0E228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245027-69A5-BDDD-C0A5-18C4FE0CFF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E06764-740A-87D6-82F3-6D99FE82E6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669434" name="Title 1"/>
          <p:cNvSpPr>
            <a:spLocks noGrp="1"/>
          </p:cNvSpPr>
          <p:nvPr>
            <p:ph type="ctrTitle"/>
          </p:nvPr>
        </p:nvSpPr>
        <p:spPr bwMode="auto"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76812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>
                <a:solidFill>
                  <a:schemeClr val="tx1"/>
                </a:solidFill>
                <a:latin typeface="Calibri"/>
                <a:cs typeface="Calibri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80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77030" name="Content Placeholder 2"/>
          <p:cNvSpPr>
            <a:spLocks noGrp="1"/>
          </p:cNvSpPr>
          <p:nvPr>
            <p:ph idx="1"/>
          </p:nvPr>
        </p:nvSpPr>
        <p:spPr bwMode="auto">
          <a:xfrm>
            <a:off x="362174" y="1440330"/>
            <a:ext cx="11411418" cy="327681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830191" name="Title 1"/>
          <p:cNvSpPr>
            <a:spLocks noGrp="1"/>
          </p:cNvSpPr>
          <p:nvPr>
            <p:ph type="title"/>
          </p:nvPr>
        </p:nvSpPr>
        <p:spPr bwMode="auto"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47418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211538" name="Slide Number Placeholder 10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912227" name="Title 7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761337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97280" y="2120900"/>
            <a:ext cx="4639736" cy="37481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654497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15943" y="2120900"/>
            <a:ext cx="4639736" cy="374819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86363487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AAAC38D-0552-4C82-B593-E6124DFADBE2}" type="datetime1">
              <a:rPr lang="en-US"/>
              <a:t>4/2/2025</a:t>
            </a:fld>
            <a:endParaRPr lang="en-US"/>
          </a:p>
        </p:txBody>
      </p:sp>
      <p:sp>
        <p:nvSpPr>
          <p:cNvPr id="1209948300" name="Footer Placeholder 8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5573899" name="Slide Number Placeholder 9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23104" name="Title 9"/>
          <p:cNvSpPr>
            <a:spLocks noGrp="1"/>
          </p:cNvSpPr>
          <p:nvPr>
            <p:ph type="title"/>
          </p:nvPr>
        </p:nvSpPr>
        <p:spPr bwMode="auto">
          <a:xfrm>
            <a:off x="1097280" y="286603"/>
            <a:ext cx="10058400" cy="145075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25975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58542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97280" y="2958274"/>
            <a:ext cx="4639736" cy="291082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2099894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15943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319710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15943" y="2958273"/>
            <a:ext cx="4639736" cy="291082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28538929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9DF0F1C-5577-4ACB-BB62-DF8F3C494C7E}" type="datetime1">
              <a:rPr lang="en-US"/>
              <a:t>4/2/2025</a:t>
            </a:fld>
            <a:endParaRPr lang="en-US"/>
          </a:p>
        </p:txBody>
      </p:sp>
      <p:sp>
        <p:nvSpPr>
          <p:cNvPr id="1364724840" name="Footer Placeholder 10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868744" name="Slide Number Placeholder 11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9785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39255486" name="Date Placeholder 5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775B394-D9F9-4F0C-B15D-605F45CB9E9F}" type="datetime1">
              <a:rPr lang="en-US"/>
              <a:t>4/2/2025</a:t>
            </a:fld>
            <a:endParaRPr lang="en-US"/>
          </a:p>
        </p:txBody>
      </p:sp>
      <p:sp>
        <p:nvSpPr>
          <p:cNvPr id="953404126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9874034" name="Slide Number Placeholder 7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89603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667345-2558-425A-8533-9BFDBCE15005}" type="datetime1">
              <a:rPr lang="en-US"/>
              <a:t>4/2/2025</a:t>
            </a:fld>
            <a:endParaRPr lang="en-US"/>
          </a:p>
        </p:txBody>
      </p:sp>
      <p:sp>
        <p:nvSpPr>
          <p:cNvPr id="529671342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508439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691138" name="Rectangle 7"/>
          <p:cNvSpPr/>
          <p:nvPr/>
        </p:nvSpPr>
        <p:spPr bwMode="auto">
          <a:xfrm>
            <a:off x="0" y="0"/>
            <a:ext cx="4654296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0470933" name="Title 1"/>
          <p:cNvSpPr>
            <a:spLocks noGrp="1"/>
          </p:cNvSpPr>
          <p:nvPr>
            <p:ph type="title"/>
          </p:nvPr>
        </p:nvSpPr>
        <p:spPr bwMode="auto">
          <a:xfrm>
            <a:off x="643465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09735889" name="Content Placeholder 2"/>
          <p:cNvSpPr>
            <a:spLocks noGrp="1"/>
          </p:cNvSpPr>
          <p:nvPr>
            <p:ph idx="1"/>
          </p:nvPr>
        </p:nvSpPr>
        <p:spPr bwMode="auto">
          <a:xfrm>
            <a:off x="5458984" y="812799"/>
            <a:ext cx="5928344" cy="529475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7600258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2956914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643464" y="6446520"/>
            <a:ext cx="3517568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2BEA474-078D-4E9B-9B14-09A87B19DC46}" type="datetime1">
              <a:rPr lang="en-US"/>
              <a:t>4/2/2025</a:t>
            </a:fld>
            <a:endParaRPr lang="en-US"/>
          </a:p>
        </p:txBody>
      </p:sp>
      <p:sp>
        <p:nvSpPr>
          <p:cNvPr id="90329357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5458983" y="6446520"/>
            <a:ext cx="5334019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334097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630734" name="Rectangle 7"/>
          <p:cNvSpPr/>
          <p:nvPr/>
        </p:nvSpPr>
        <p:spPr bwMode="auto"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72302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5" y="0"/>
            <a:ext cx="12191985" cy="45783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2097800755" name="Title 1"/>
          <p:cNvSpPr>
            <a:spLocks noGrp="1"/>
          </p:cNvSpPr>
          <p:nvPr>
            <p:ph type="title"/>
          </p:nvPr>
        </p:nvSpPr>
        <p:spPr bwMode="auto"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08101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439127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D986-8816-4272-A432-0437A28A9828}" type="datetime1">
              <a:rPr lang="en-US"/>
              <a:t>4/2/2025</a:t>
            </a:fld>
            <a:endParaRPr lang="en-US"/>
          </a:p>
        </p:txBody>
      </p:sp>
      <p:sp>
        <p:nvSpPr>
          <p:cNvPr id="659858793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endParaRPr lang="en-US"/>
          </a:p>
        </p:txBody>
      </p:sp>
      <p:sp>
        <p:nvSpPr>
          <p:cNvPr id="197012933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0140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56528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5377933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612A279-0833-481D-8C56-F67FD0AC6C50}" type="datetime1">
              <a:rPr lang="en-US"/>
              <a:t>4/2/2025</a:t>
            </a:fld>
            <a:endParaRPr lang="en-US"/>
          </a:p>
        </p:txBody>
      </p:sp>
      <p:sp>
        <p:nvSpPr>
          <p:cNvPr id="36419334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6348722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82492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412302"/>
            <a:ext cx="2628900" cy="575989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52014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6480879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587DA83-5663-4C9C-B9AA-0B40A3DAFF81}" type="datetime1">
              <a:rPr lang="en-US"/>
              <a:t>4/2/2025</a:t>
            </a:fld>
            <a:endParaRPr lang="en-US"/>
          </a:p>
        </p:txBody>
      </p:sp>
      <p:sp>
        <p:nvSpPr>
          <p:cNvPr id="454264415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4950273" name="Slide Number Placeholder 9"/>
          <p:cNvSpPr>
            <a:spLocks noGrp="1"/>
          </p:cNvSpPr>
          <p:nvPr>
            <p:ph type="sldNum" sz="quarter" idx="12"/>
          </p:nvPr>
        </p:nvSpPr>
        <p:spPr bwMode="auto"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A98EE3D-8CD1-4C3F-BD1C-C98C959646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tx2">
                <a:lumMod val="60000"/>
                <a:lumOff val="40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825313" name="Title Placeholder 1"/>
          <p:cNvSpPr>
            <a:spLocks noGrp="1"/>
          </p:cNvSpPr>
          <p:nvPr>
            <p:ph type="title"/>
          </p:nvPr>
        </p:nvSpPr>
        <p:spPr bwMode="auto">
          <a:xfrm>
            <a:off x="362174" y="235804"/>
            <a:ext cx="11411418" cy="7531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015460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2174" y="1440330"/>
            <a:ext cx="11411418" cy="41476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</p:txBody>
      </p:sp>
      <p:cxnSp>
        <p:nvCxnSpPr>
          <p:cNvPr id="1849479793" name="Straight Connector 9"/>
          <p:cNvCxnSpPr/>
          <p:nvPr/>
        </p:nvCxnSpPr>
        <p:spPr bwMode="auto">
          <a:xfrm>
            <a:off x="362174" y="5925666"/>
            <a:ext cx="116072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2699287" name="Picture 10"/>
          <p:cNvPicPr>
            <a:picLocks noChangeAspect="1"/>
          </p:cNvPicPr>
          <p:nvPr userDrawn="1"/>
        </p:nvPicPr>
        <p:blipFill rotWithShape="1">
          <a:blip r:embed="rId13"/>
          <a:srcRect l="8772" t="29310" r="14290" b="26247"/>
          <a:stretch/>
        </p:blipFill>
        <p:spPr bwMode="auto">
          <a:xfrm>
            <a:off x="272831" y="6134775"/>
            <a:ext cx="2123924" cy="540665"/>
          </a:xfrm>
          <a:prstGeom prst="rect">
            <a:avLst/>
          </a:prstGeom>
        </p:spPr>
      </p:pic>
      <p:sp>
        <p:nvSpPr>
          <p:cNvPr id="1633953820" name="TextBox 11"/>
          <p:cNvSpPr txBox="1"/>
          <p:nvPr userDrawn="1"/>
        </p:nvSpPr>
        <p:spPr bwMode="auto">
          <a:xfrm>
            <a:off x="11107271" y="6318558"/>
            <a:ext cx="98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Calibri"/>
                <a:cs typeface="Calibri"/>
              </a:rPr>
              <a:t>Slide </a:t>
            </a:r>
            <a:fld id="{3A98EE3D-8CD1-4C3F-BD1C-C98C9596463C}" type="slidenum">
              <a:rPr lang="en-US"/>
              <a:t>‹#›</a:t>
            </a:fld>
            <a:endParaRPr lang="en-US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 rtl="0">
        <a:lnSpc>
          <a:spcPct val="90000"/>
        </a:lnSpc>
        <a:spcBef>
          <a:spcPts val="0"/>
        </a:spcBef>
        <a:buNone/>
        <a:defRPr sz="4700" i="0" spc="-5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91440" indent="-91440" algn="l" defTabSz="914400" rtl="0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1900">
          <a:solidFill>
            <a:schemeClr val="tx1"/>
          </a:solidFill>
          <a:latin typeface="Calibri"/>
          <a:ea typeface="+mn-ea"/>
          <a:cs typeface="Calibri"/>
        </a:defRPr>
      </a:lvl1pPr>
      <a:lvl2pPr marL="384048" indent="-182880" algn="l" defTabSz="914400" rtl="0">
        <a:lnSpc>
          <a:spcPct val="110000"/>
        </a:lnSpc>
        <a:spcBef>
          <a:spcPts val="200"/>
        </a:spcBef>
        <a:spcAft>
          <a:spcPts val="400"/>
        </a:spcAft>
        <a:buClrTx/>
        <a:buFont typeface="Wingdings"/>
        <a:buChar char="§"/>
        <a:defRPr sz="1700">
          <a:solidFill>
            <a:schemeClr val="tx1"/>
          </a:solidFill>
          <a:latin typeface="Calibri"/>
          <a:ea typeface="+mn-ea"/>
          <a:cs typeface="Calibri"/>
        </a:defRPr>
      </a:lvl2pPr>
      <a:lvl3pPr marL="566928" indent="-182880" algn="l" defTabSz="914400" rtl="0">
        <a:lnSpc>
          <a:spcPct val="110000"/>
        </a:lnSpc>
        <a:spcBef>
          <a:spcPts val="200"/>
        </a:spcBef>
        <a:spcAft>
          <a:spcPts val="400"/>
        </a:spcAft>
        <a:buClrTx/>
        <a:buFont typeface="Arial"/>
        <a:buChar char="•"/>
        <a:defRPr sz="1300">
          <a:solidFill>
            <a:schemeClr val="tx1"/>
          </a:solidFill>
          <a:latin typeface="Calibri"/>
          <a:ea typeface="+mn-ea"/>
          <a:cs typeface="Calibri"/>
        </a:defRPr>
      </a:lvl3pPr>
      <a:lvl4pPr marL="749808" indent="-182880" algn="l" defTabSz="914400" rtl="0">
        <a:lnSpc>
          <a:spcPct val="110000"/>
        </a:lnSpc>
        <a:spcBef>
          <a:spcPts val="200"/>
        </a:spcBef>
        <a:spcAft>
          <a:spcPts val="400"/>
        </a:spcAft>
        <a:buClrTx/>
        <a:buFont typeface="Calibri"/>
        <a:buChar char="◦"/>
        <a:defRPr sz="1300">
          <a:solidFill>
            <a:schemeClr val="tx1">
              <a:lumMod val="75000"/>
              <a:lumOff val="25000"/>
            </a:schemeClr>
          </a:solidFill>
          <a:latin typeface="Calibri"/>
          <a:ea typeface="+mn-ea"/>
          <a:cs typeface="Calibri"/>
        </a:defRPr>
      </a:lvl4pPr>
      <a:lvl5pPr marL="932688" indent="-182880" algn="l" defTabSz="914400" rtl="0">
        <a:lnSpc>
          <a:spcPct val="110000"/>
        </a:lnSpc>
        <a:spcBef>
          <a:spcPts val="200"/>
        </a:spcBef>
        <a:spcAft>
          <a:spcPts val="400"/>
        </a:spcAft>
        <a:buClrTx/>
        <a:buFont typeface="Calibri"/>
        <a:buChar char="◦"/>
        <a:defRPr sz="1300">
          <a:solidFill>
            <a:schemeClr val="tx1">
              <a:lumMod val="75000"/>
              <a:lumOff val="25000"/>
            </a:schemeClr>
          </a:solidFill>
          <a:latin typeface="Calibri"/>
          <a:ea typeface="+mn-ea"/>
          <a:cs typeface="Calibri"/>
        </a:defRPr>
      </a:lvl5pPr>
      <a:lvl6pPr marL="11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ilab.criteo.com/download-criteo-1tb-click-logs-dataset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tx2">
                <a:lumMod val="60000"/>
                <a:lumOff val="40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861331" name="Title 1"/>
          <p:cNvSpPr txBox="1"/>
          <p:nvPr/>
        </p:nvSpPr>
        <p:spPr bwMode="auto">
          <a:xfrm>
            <a:off x="-1630668" y="870208"/>
            <a:ext cx="10263673" cy="35065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8000" i="0" spc="-5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j-ea"/>
                <a:cs typeface="Calibri"/>
              </a:defRPr>
            </a:lvl1pPr>
          </a:lstStyle>
          <a:p>
            <a:pPr>
              <a:defRPr/>
            </a:pPr>
            <a:endParaRPr lang="en-US" sz="4400"/>
          </a:p>
        </p:txBody>
      </p:sp>
      <p:sp>
        <p:nvSpPr>
          <p:cNvPr id="1376260827" name="Subtitle 2"/>
          <p:cNvSpPr txBox="1"/>
          <p:nvPr/>
        </p:nvSpPr>
        <p:spPr bwMode="auto">
          <a:xfrm>
            <a:off x="1100798" y="1294141"/>
            <a:ext cx="10058400" cy="31655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/>
              <a:buNone/>
              <a:defRPr sz="2400" cap="none" spc="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 indent="0" algn="ctr" defTabSz="914400" rtl="0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Wingdings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914400" indent="0" algn="ctr" defTabSz="914400" rtl="0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Arial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371600" indent="0" algn="ctr" defTabSz="914400" rtl="0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1828800" indent="0" algn="ctr" defTabSz="914400" rtl="0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endParaRPr lang="en-US" sz="2800"/>
          </a:p>
        </p:txBody>
      </p:sp>
      <p:pic>
        <p:nvPicPr>
          <p:cNvPr id="612036044" name="Picture 5"/>
          <p:cNvPicPr>
            <a:picLocks noChangeAspect="1"/>
          </p:cNvPicPr>
          <p:nvPr/>
        </p:nvPicPr>
        <p:blipFill rotWithShape="1">
          <a:blip r:embed="rId3"/>
          <a:srcRect l="8772" t="29310" r="14290" b="26247"/>
          <a:stretch/>
        </p:blipFill>
        <p:spPr bwMode="auto">
          <a:xfrm>
            <a:off x="272830" y="6134775"/>
            <a:ext cx="2333891" cy="594114"/>
          </a:xfrm>
          <a:prstGeom prst="rect">
            <a:avLst/>
          </a:prstGeom>
        </p:spPr>
      </p:pic>
      <p:sp>
        <p:nvSpPr>
          <p:cNvPr id="1619298080" name="TextBox 6"/>
          <p:cNvSpPr txBox="1"/>
          <p:nvPr/>
        </p:nvSpPr>
        <p:spPr bwMode="auto">
          <a:xfrm>
            <a:off x="11232107" y="6332561"/>
            <a:ext cx="841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Calibri"/>
                <a:cs typeface="Calibri"/>
              </a:rPr>
              <a:t>Slide 1</a:t>
            </a:r>
            <a:endParaRPr/>
          </a:p>
        </p:txBody>
      </p:sp>
      <p:cxnSp>
        <p:nvCxnSpPr>
          <p:cNvPr id="889833334" name="Straight Connector 8"/>
          <p:cNvCxnSpPr/>
          <p:nvPr/>
        </p:nvCxnSpPr>
        <p:spPr bwMode="auto">
          <a:xfrm>
            <a:off x="272831" y="5882185"/>
            <a:ext cx="1166896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181825" name="Title 1"/>
          <p:cNvSpPr txBox="1"/>
          <p:nvPr/>
        </p:nvSpPr>
        <p:spPr bwMode="auto">
          <a:xfrm>
            <a:off x="1064406" y="1546731"/>
            <a:ext cx="10263673" cy="9880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8000" i="0" spc="-5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j-ea"/>
                <a:cs typeface="Calibri"/>
              </a:defRPr>
            </a:lvl1pPr>
          </a:lstStyle>
          <a:p>
            <a:pPr>
              <a:defRPr/>
            </a:pPr>
            <a:endParaRPr lang="en-US" sz="4400"/>
          </a:p>
        </p:txBody>
      </p:sp>
      <p:sp>
        <p:nvSpPr>
          <p:cNvPr id="1594373682" name="Rectangle 2"/>
          <p:cNvSpPr>
            <a:spLocks noChangeArrowheads="1"/>
          </p:cNvSpPr>
          <p:nvPr/>
        </p:nvSpPr>
        <p:spPr bwMode="auto">
          <a:xfrm>
            <a:off x="3330" y="57303"/>
            <a:ext cx="12189245" cy="48628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sz="1800" b="1" i="0" u="none" strike="noStrike" cap="none">
                <a:ln>
                  <a:noFill/>
                </a:ln>
                <a:latin typeface="Arial"/>
                <a:cs typeface="Arial"/>
              </a:rPr>
              <a:t>																								</a:t>
            </a:r>
            <a:r>
              <a:rPr lang="en-US" sz="3600" b="1" i="0" u="none" strike="noStrike" cap="none">
                <a:ln>
                  <a:noFill/>
                </a:ln>
                <a:latin typeface="Arial"/>
                <a:cs typeface="Arial"/>
              </a:rPr>
              <a:t>																						</a:t>
            </a:r>
            <a:endParaRPr lang="en-US"/>
          </a:p>
          <a:p>
            <a:pPr marL="0" marR="0" lvl="0" indent="0" algn="ctr" defTabSz="914400" rtl="0">
              <a:buClrTx/>
              <a:buSzTx/>
              <a:defRPr/>
            </a:pPr>
            <a:r>
              <a:rPr sz="4800" b="1" i="1" u="none" strike="noStrike" cap="none">
                <a:ln>
                  <a:noFill/>
                </a:ln>
                <a:latin typeface="Calibri"/>
                <a:ea typeface="Calibri"/>
                <a:cs typeface="Calibri"/>
              </a:rPr>
              <a:t>Click-Through Rate (CTR) Prediction</a:t>
            </a:r>
            <a:r>
              <a:rPr sz="4800" b="1" i="0" u="none" strike="noStrike" cap="none">
                <a:ln>
                  <a:noFill/>
                </a:ln>
                <a:latin typeface="Calibri"/>
                <a:ea typeface="Calibri"/>
                <a:cs typeface="Calibri"/>
              </a:rPr>
              <a:t> </a:t>
            </a:r>
            <a:endParaRPr lang="en-US" sz="4800" b="1" i="0" u="none" strike="noStrike" cap="none">
              <a:ln>
                <a:noFill/>
              </a:ln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>
              <a:buClrTx/>
              <a:buSzTx/>
              <a:defRPr/>
            </a:pPr>
            <a:r>
              <a:rPr sz="2800" b="0" i="1" u="none" strike="noStrike" cap="none">
                <a:ln>
                  <a:noFill/>
                </a:ln>
                <a:latin typeface="Calibri"/>
                <a:ea typeface="Calibri"/>
                <a:cs typeface="Arial"/>
              </a:rPr>
              <a:t>Building a </a:t>
            </a:r>
            <a:r>
              <a:rPr lang="en-US" sz="2800" i="1">
                <a:latin typeface="Calibri"/>
                <a:ea typeface="Calibri"/>
                <a:cs typeface="Arial"/>
              </a:rPr>
              <a:t>Deep</a:t>
            </a:r>
            <a:r>
              <a:rPr sz="2800" b="0" i="1" u="none" strike="noStrike" cap="none">
                <a:ln>
                  <a:noFill/>
                </a:ln>
                <a:latin typeface="Calibri"/>
                <a:ea typeface="Calibri"/>
                <a:cs typeface="Arial"/>
              </a:rPr>
              <a:t> Learning Model for Digital Advertising</a:t>
            </a:r>
            <a:endParaRPr lang="en-US" sz="2800" b="0" i="1" u="none" strike="noStrike" cap="none">
              <a:ln>
                <a:noFill/>
              </a:ln>
              <a:latin typeface="Calibri"/>
              <a:ea typeface="Calibri"/>
              <a:cs typeface="Arial"/>
            </a:endParaRPr>
          </a:p>
          <a:p>
            <a:pPr marL="0" marR="0" lvl="0" indent="0" algn="ctr" defTabSz="914400" rtl="0">
              <a:buClrTx/>
              <a:buSzTx/>
              <a:defRPr/>
            </a:pPr>
            <a:endParaRPr lang="en-US" sz="2800" b="0" i="1" u="none" strike="noStrike" cap="none">
              <a:ln>
                <a:noFill/>
              </a:ln>
              <a:latin typeface="Calibri"/>
              <a:ea typeface="Calibri"/>
              <a:cs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 sz="2000">
              <a:latin typeface="Calibri"/>
              <a:ea typeface="Calibri"/>
              <a:cs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                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cap="none">
                <a:ln>
                  <a:noFill/>
                </a:ln>
                <a:latin typeface="Calibri"/>
                <a:ea typeface="Calibri"/>
                <a:cs typeface="Arial"/>
              </a:rPr>
              <a:t>Afroza Khatun &amp; Shivangini Bhambure</a:t>
            </a:r>
            <a:endParaRPr lang="en-US" sz="2000" b="0" i="0" u="none" strike="noStrike" cap="none">
              <a:ln>
                <a:noFill/>
              </a:ln>
              <a:latin typeface="Calibri"/>
              <a:ea typeface="Calibri"/>
              <a:cs typeface="Arial"/>
            </a:endParaRPr>
          </a:p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28.03.2025</a:t>
            </a:r>
            <a:endParaRPr sz="2000" b="0" i="0" u="none" strike="noStrike" cap="none">
              <a:ln>
                <a:noFill/>
              </a:ln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12638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5400" b="1">
                <a:latin typeface="Calibri"/>
                <a:ea typeface="Calibri"/>
                <a:cs typeface="Calibri"/>
              </a:rPr>
              <a:t>Introduction</a:t>
            </a:r>
            <a:endParaRPr sz="5400" b="1">
              <a:latin typeface="Calibri"/>
              <a:ea typeface="Calibri"/>
              <a:cs typeface="Calibri"/>
            </a:endParaRPr>
          </a:p>
        </p:txBody>
      </p:sp>
      <p:sp>
        <p:nvSpPr>
          <p:cNvPr id="106228422" name="TextBox 3"/>
          <p:cNvSpPr txBox="1"/>
          <p:nvPr/>
        </p:nvSpPr>
        <p:spPr bwMode="auto">
          <a:xfrm>
            <a:off x="362174" y="1375683"/>
            <a:ext cx="11210394" cy="27392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  <a:defRPr/>
            </a:pPr>
            <a:r>
              <a:rPr lang="en-US" sz="2800"/>
              <a:t>✔ </a:t>
            </a:r>
            <a:r>
              <a:rPr lang="en-US" sz="2400">
                <a:latin typeface="Calibri"/>
                <a:ea typeface="Calibri"/>
                <a:cs typeface="Calibri"/>
              </a:rPr>
              <a:t>We are training two models on the Criteo Click Prediction Dataset.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✔ The dataset is too large to fit in memory, so we use chunk-wise processing.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✔ </a:t>
            </a:r>
            <a:r>
              <a:rPr lang="en-US" sz="2400" b="1">
                <a:latin typeface="Calibri"/>
                <a:ea typeface="Calibri"/>
                <a:cs typeface="Calibri"/>
              </a:rPr>
              <a:t>Goal:</a:t>
            </a:r>
            <a:r>
              <a:rPr lang="en-US" sz="2400">
                <a:latin typeface="Calibri"/>
                <a:ea typeface="Calibri"/>
                <a:cs typeface="Calibri"/>
              </a:rPr>
              <a:t> Identify the best model for accurate click prediction.</a:t>
            </a:r>
            <a:endParaRPr/>
          </a:p>
          <a:p>
            <a:pPr>
              <a:buNone/>
              <a:defRPr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400">
                <a:latin typeface="Calibri"/>
                <a:ea typeface="Calibri"/>
                <a:cs typeface="Calibri"/>
              </a:rPr>
              <a:t>✔ </a:t>
            </a:r>
            <a:r>
              <a:rPr lang="en-US" sz="2400" b="1">
                <a:latin typeface="Calibri"/>
                <a:ea typeface="Calibri"/>
                <a:cs typeface="Calibri"/>
              </a:rPr>
              <a:t>Models Used: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1️⃣ </a:t>
            </a:r>
            <a:r>
              <a:rPr lang="en-US" sz="2400" b="1">
                <a:latin typeface="Calibri"/>
                <a:ea typeface="Calibri"/>
                <a:cs typeface="Calibri"/>
              </a:rPr>
              <a:t>TabNet</a:t>
            </a:r>
            <a:r>
              <a:rPr lang="en-US" sz="2400" b="1">
                <a:latin typeface="Calibri"/>
                <a:ea typeface="Calibri"/>
                <a:cs typeface="Calibri"/>
              </a:rPr>
              <a:t> Classifier</a:t>
            </a:r>
            <a:r>
              <a:rPr lang="en-US" sz="2400">
                <a:latin typeface="Calibri"/>
                <a:ea typeface="Calibri"/>
                <a:cs typeface="Calibri"/>
              </a:rPr>
              <a:t> – Self-attentive, interpretable deep learning model</a:t>
            </a:r>
            <a:br>
              <a:rPr lang="en-US" sz="2400">
                <a:latin typeface="Calibri"/>
                <a:ea typeface="Calibri"/>
                <a:cs typeface="Calibri"/>
              </a:rPr>
            </a:br>
            <a:r>
              <a:rPr lang="en-US" sz="2400">
                <a:latin typeface="Calibri"/>
                <a:ea typeface="Calibri"/>
                <a:cs typeface="Calibri"/>
              </a:rPr>
              <a:t>2️⃣ </a:t>
            </a:r>
            <a:r>
              <a:rPr lang="en-US" sz="2400" b="1">
                <a:latin typeface="Calibri"/>
                <a:ea typeface="Calibri"/>
                <a:cs typeface="Calibri"/>
              </a:rPr>
              <a:t>3-Layer Fully Connected Neural Network</a:t>
            </a:r>
            <a:r>
              <a:rPr lang="en-US" sz="2400">
                <a:latin typeface="Calibri"/>
                <a:ea typeface="Calibri"/>
                <a:cs typeface="Calibri"/>
              </a:rPr>
              <a:t> – Standard deep learning model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757030" name="Title 1"/>
          <p:cNvSpPr>
            <a:spLocks noGrp="1"/>
          </p:cNvSpPr>
          <p:nvPr>
            <p:ph type="title"/>
          </p:nvPr>
        </p:nvSpPr>
        <p:spPr bwMode="auto">
          <a:xfrm>
            <a:off x="489715" y="566761"/>
            <a:ext cx="11157418" cy="97662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800" b="1">
                <a:latin typeface="Calibri"/>
                <a:ea typeface="Calibri"/>
                <a:cs typeface="Calibri"/>
              </a:rPr>
              <a:t>Why Predict CTR?</a:t>
            </a:r>
            <a:br>
              <a:rPr lang="en-US" sz="4800" b="1"/>
            </a:br>
            <a:endParaRPr sz="4800"/>
          </a:p>
        </p:txBody>
      </p:sp>
      <p:sp>
        <p:nvSpPr>
          <p:cNvPr id="844008876" name="Content Placeholder 2"/>
          <p:cNvSpPr>
            <a:spLocks noGrp="1"/>
          </p:cNvSpPr>
          <p:nvPr>
            <p:ph idx="1"/>
          </p:nvPr>
        </p:nvSpPr>
        <p:spPr bwMode="auto">
          <a:xfrm>
            <a:off x="584744" y="1550897"/>
            <a:ext cx="11410950" cy="3276600"/>
          </a:xfrm>
        </p:spPr>
        <p:txBody>
          <a:bodyPr vert="horz" lIns="0" tIns="45720" rIns="0" bIns="45720" rtlCol="0" anchor="t">
            <a:normAutofit/>
          </a:bodyPr>
          <a:lstStyle/>
          <a:p>
            <a:pPr marL="68580" indent="0">
              <a:buClr>
                <a:schemeClr val="tx1"/>
              </a:buClr>
              <a:buNone/>
              <a:defRPr/>
            </a:pPr>
            <a:r>
              <a:rPr lang="en-US" sz="2400"/>
              <a:t>✔ </a:t>
            </a:r>
            <a:r>
              <a:rPr lang="en-US" sz="2400">
                <a:latin typeface="Calibri"/>
                <a:ea typeface="Calibri"/>
                <a:cs typeface="Calibri"/>
              </a:rPr>
              <a:t>Helps advertisers allocate budgets efficiently.</a:t>
            </a:r>
            <a:endParaRPr lang="en-US">
              <a:ea typeface="Calibri"/>
            </a:endParaRPr>
          </a:p>
          <a:p>
            <a:pPr marL="68580" indent="0">
              <a:buClr>
                <a:schemeClr val="tx1"/>
              </a:buClr>
              <a:buNone/>
              <a:defRPr/>
            </a:pPr>
            <a:r>
              <a:rPr lang="en-US" sz="2400"/>
              <a:t>✔ </a:t>
            </a:r>
            <a:r>
              <a:rPr lang="en-US" sz="2400">
                <a:latin typeface="Calibri"/>
                <a:ea typeface="Calibri"/>
                <a:cs typeface="Calibri"/>
              </a:rPr>
              <a:t>Improves user experience by showing relevant ads</a:t>
            </a:r>
            <a:endParaRPr/>
          </a:p>
          <a:p>
            <a:pPr marL="68580" indent="0">
              <a:buClr>
                <a:schemeClr val="tx1"/>
              </a:buClr>
              <a:buNone/>
              <a:defRPr/>
            </a:pPr>
            <a:r>
              <a:rPr lang="en-US" sz="2400"/>
              <a:t>✔ </a:t>
            </a:r>
            <a:r>
              <a:rPr lang="en-US" sz="2400">
                <a:latin typeface="Calibri"/>
                <a:ea typeface="Calibri"/>
                <a:cs typeface="Calibri"/>
              </a:rPr>
              <a:t>Increases ad revenue for platforms.</a:t>
            </a:r>
            <a:endParaRPr/>
          </a:p>
          <a:p>
            <a:pPr marL="457200" indent="-274320">
              <a:buFont typeface="Arial"/>
              <a:buChar char="•"/>
              <a:defRPr/>
            </a:pPr>
            <a:endParaRPr sz="2800">
              <a:ea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250110" name="Title 1"/>
          <p:cNvSpPr>
            <a:spLocks noGrp="1"/>
          </p:cNvSpPr>
          <p:nvPr>
            <p:ph type="title"/>
          </p:nvPr>
        </p:nvSpPr>
        <p:spPr bwMode="auto">
          <a:xfrm>
            <a:off x="362174" y="761098"/>
            <a:ext cx="11411418" cy="75310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b="1">
                <a:latin typeface="Calibri"/>
                <a:ea typeface="Calibri"/>
                <a:cs typeface="Calibri"/>
              </a:rPr>
              <a:t>Dataset Overview</a:t>
            </a:r>
            <a:br>
              <a:rPr lang="en-US" b="1"/>
            </a:br>
            <a:endParaRPr/>
          </a:p>
        </p:txBody>
      </p:sp>
      <p:sp>
        <p:nvSpPr>
          <p:cNvPr id="1235108882" name="Content Placeholder 2"/>
          <p:cNvSpPr>
            <a:spLocks noGrp="1"/>
          </p:cNvSpPr>
          <p:nvPr>
            <p:ph idx="1"/>
          </p:nvPr>
        </p:nvSpPr>
        <p:spPr bwMode="auto">
          <a:xfrm>
            <a:off x="498245" y="1012723"/>
            <a:ext cx="11411418" cy="4660489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  <a:defRPr/>
            </a:pPr>
            <a:r>
              <a:rPr lang="en-US" sz="2000" b="1">
                <a:latin typeface="Calibri"/>
                <a:ea typeface="Calibri"/>
                <a:cs typeface="Calibri"/>
              </a:rPr>
              <a:t>Criteo 1TB Click Logs Dataset (</a:t>
            </a:r>
            <a:r>
              <a:rPr lang="en-US" sz="2000" u="sng">
                <a:latin typeface="Calibri"/>
                <a:ea typeface="Calibri"/>
                <a:cs typeface="Calibri"/>
                <a:hlinkClick r:id="rId3" tooltip=""/>
              </a:rPr>
              <a:t>https://ailab.criteo.com/download-criteo-1tb-click-logs-dataset/</a:t>
            </a:r>
            <a:r>
              <a:rPr lang="en-US" sz="2000" b="1">
                <a:latin typeface="Calibri"/>
                <a:ea typeface="Calibri"/>
                <a:cs typeface="Calibri"/>
              </a:rPr>
              <a:t>) 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>
              <a:buNone/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	✔ </a:t>
            </a:r>
            <a:r>
              <a:rPr lang="en-US" sz="2000" b="1">
                <a:latin typeface="Calibri"/>
                <a:ea typeface="Calibri"/>
                <a:cs typeface="Calibri"/>
              </a:rPr>
              <a:t>Dataset:</a:t>
            </a:r>
            <a:r>
              <a:rPr lang="en-US" sz="2000">
                <a:latin typeface="Calibri"/>
                <a:ea typeface="Calibri"/>
                <a:cs typeface="Calibri"/>
              </a:rPr>
              <a:t> Criteo Click Prediction</a:t>
            </a:r>
            <a:br>
              <a:rPr lang="en-US" sz="2000"/>
            </a:br>
            <a:r>
              <a:rPr lang="en-US" sz="2000">
                <a:latin typeface="Calibri"/>
                <a:ea typeface="Calibri"/>
                <a:cs typeface="Calibri"/>
              </a:rPr>
              <a:t>✔ </a:t>
            </a:r>
            <a:r>
              <a:rPr lang="en-US" sz="2000" b="1">
                <a:latin typeface="Calibri"/>
                <a:ea typeface="Calibri"/>
                <a:cs typeface="Calibri"/>
              </a:rPr>
              <a:t>Size: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b="1">
                <a:latin typeface="Calibri"/>
                <a:ea typeface="Calibri"/>
                <a:cs typeface="Calibri"/>
              </a:rPr>
              <a:t>1TB+</a:t>
            </a:r>
            <a:r>
              <a:rPr lang="en-US" sz="2000">
                <a:latin typeface="Calibri"/>
                <a:ea typeface="Calibri"/>
                <a:cs typeface="Calibri"/>
              </a:rPr>
              <a:t> (processed in 1,000,000-row chunks)</a:t>
            </a:r>
            <a:br>
              <a:rPr lang="en-US" sz="2000"/>
            </a:br>
            <a:r>
              <a:rPr lang="en-US" sz="2000">
                <a:latin typeface="Calibri"/>
                <a:ea typeface="Calibri"/>
                <a:cs typeface="Calibri"/>
              </a:rPr>
              <a:t>✔ </a:t>
            </a:r>
            <a:r>
              <a:rPr lang="en-US" sz="2000" b="1">
                <a:latin typeface="Calibri"/>
                <a:ea typeface="Calibri"/>
                <a:cs typeface="Calibri"/>
              </a:rPr>
              <a:t>Features:</a:t>
            </a:r>
            <a:br>
              <a:rPr lang="en-US" sz="2000" b="1"/>
            </a:br>
            <a:r>
              <a:rPr lang="en-US" sz="2000" b="1">
                <a:latin typeface="Calibri"/>
                <a:ea typeface="Calibri"/>
                <a:cs typeface="Calibri"/>
              </a:rPr>
              <a:t>	</a:t>
            </a:r>
            <a:r>
              <a:rPr lang="en-US" sz="2000">
                <a:latin typeface="Calibri"/>
                <a:ea typeface="Calibri"/>
                <a:cs typeface="Calibri"/>
              </a:rPr>
              <a:t>13 Numerical features</a:t>
            </a:r>
            <a:br>
              <a:rPr lang="en-US" sz="2000"/>
            </a:br>
            <a:r>
              <a:rPr lang="en-US" sz="2000">
                <a:latin typeface="Calibri"/>
                <a:ea typeface="Calibri"/>
                <a:cs typeface="Calibri"/>
              </a:rPr>
              <a:t>	26 Categorical features</a:t>
            </a:r>
            <a:br>
              <a:rPr lang="en-US" sz="2000"/>
            </a:br>
            <a:r>
              <a:rPr lang="en-US" sz="2000">
                <a:latin typeface="Calibri"/>
                <a:ea typeface="Calibri"/>
                <a:cs typeface="Calibri"/>
              </a:rPr>
              <a:t>	1 Binary label (clicked: 1, not clicked: 0)</a:t>
            </a:r>
            <a:endParaRPr/>
          </a:p>
          <a:p>
            <a:pPr>
              <a:buNone/>
              <a:defRPr/>
            </a:pPr>
            <a:r>
              <a:rPr lang="en-US" sz="2000"/>
              <a:t>	✔ </a:t>
            </a:r>
            <a:r>
              <a:rPr lang="en-US" sz="2000" b="1"/>
              <a:t>Challenges: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Handling large-scale data efficiently.</a:t>
            </a:r>
            <a:br>
              <a:rPr lang="en-US" sz="2000"/>
            </a:br>
            <a:r>
              <a:rPr lang="en-US" sz="2000"/>
              <a:t>	Managing missing values.</a:t>
            </a:r>
            <a:br>
              <a:rPr lang="en-US" sz="2000"/>
            </a:br>
            <a:r>
              <a:rPr lang="en-US" sz="2000"/>
              <a:t>	Choosing the best model for performance and interpretability.</a:t>
            </a:r>
            <a:endParaRPr/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947359" name="Content Placeholder 2"/>
          <p:cNvSpPr>
            <a:spLocks noGrp="1"/>
          </p:cNvSpPr>
          <p:nvPr>
            <p:ph idx="1"/>
          </p:nvPr>
        </p:nvSpPr>
        <p:spPr bwMode="auto">
          <a:xfrm>
            <a:off x="491352" y="1077473"/>
            <a:ext cx="11421578" cy="3916893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None/>
              <a:defRPr/>
            </a:pPr>
            <a:r>
              <a:rPr lang="en-US" sz="2000"/>
              <a:t>✔ </a:t>
            </a:r>
            <a:r>
              <a:rPr lang="en-US" sz="2000" b="1"/>
              <a:t>Handling Missing Values:</a:t>
            </a:r>
            <a:br>
              <a:rPr lang="en-US" sz="2000" b="1"/>
            </a:br>
            <a:r>
              <a:rPr lang="en-US" sz="2000" b="1"/>
              <a:t>	Numerical</a:t>
            </a:r>
            <a:r>
              <a:rPr lang="en-US" sz="2000"/>
              <a:t> → Replaced with median</a:t>
            </a:r>
            <a:br>
              <a:rPr lang="en-US" sz="2000" b="1"/>
            </a:br>
            <a:r>
              <a:rPr lang="en-US" sz="2000" b="1"/>
              <a:t>	Categorical</a:t>
            </a:r>
            <a:r>
              <a:rPr lang="en-US" sz="2000"/>
              <a:t> → Replaced with "Unknown"</a:t>
            </a:r>
            <a:endParaRPr/>
          </a:p>
          <a:p>
            <a:pPr>
              <a:buNone/>
              <a:defRPr/>
            </a:pPr>
            <a:r>
              <a:rPr lang="en-US" sz="2000"/>
              <a:t>✔ </a:t>
            </a:r>
            <a:r>
              <a:rPr lang="en-US" sz="2000" b="1"/>
              <a:t>Feature Encoding &amp; Scaling:</a:t>
            </a:r>
            <a:br>
              <a:rPr lang="en-US" sz="2000" b="1"/>
            </a:br>
            <a:r>
              <a:rPr lang="en-US" sz="2000" b="1"/>
              <a:t>	Numerical</a:t>
            </a:r>
            <a:r>
              <a:rPr lang="en-US" sz="2000"/>
              <a:t> → Standard Scaler (mean = 0, std = 1)</a:t>
            </a:r>
            <a:br>
              <a:rPr lang="en-US" sz="2000"/>
            </a:br>
            <a:r>
              <a:rPr lang="en-US" sz="2000"/>
              <a:t>	</a:t>
            </a:r>
            <a:r>
              <a:rPr lang="en-US" sz="2000" b="1"/>
              <a:t>Categorical</a:t>
            </a:r>
            <a:r>
              <a:rPr lang="en-US" sz="2000"/>
              <a:t> → Label Encoding</a:t>
            </a:r>
            <a:endParaRPr/>
          </a:p>
          <a:p>
            <a:pPr>
              <a:buNone/>
              <a:defRPr/>
            </a:pPr>
            <a:r>
              <a:rPr lang="en-US" sz="2000"/>
              <a:t>✔ </a:t>
            </a:r>
            <a:r>
              <a:rPr lang="en-US" sz="2000" b="1"/>
              <a:t>Processing in Chunks: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Read 1,000,000 rows per chunk</a:t>
            </a:r>
            <a:br>
              <a:rPr lang="en-US" sz="2000"/>
            </a:br>
            <a:r>
              <a:rPr lang="en-US" sz="2000"/>
              <a:t>	Train model iteratively to handle memory constraints</a:t>
            </a:r>
            <a:endParaRPr/>
          </a:p>
          <a:p>
            <a:pPr indent="0">
              <a:lnSpc>
                <a:spcPct val="100000"/>
              </a:lnSpc>
              <a:spcBef>
                <a:spcPts val="1000"/>
              </a:spcBef>
              <a:buClr>
                <a:srgbClr val="1CADE4"/>
              </a:buClr>
              <a:buFont typeface="Arial"/>
              <a:buChar char="•"/>
              <a:defRPr/>
            </a:pPr>
            <a:endParaRPr sz="2000">
              <a:ea typeface="Calibri"/>
            </a:endParaRPr>
          </a:p>
        </p:txBody>
      </p:sp>
      <p:sp>
        <p:nvSpPr>
          <p:cNvPr id="1729482631" name="Title 1"/>
          <p:cNvSpPr>
            <a:spLocks noGrp="1"/>
          </p:cNvSpPr>
          <p:nvPr>
            <p:ph type="title"/>
          </p:nvPr>
        </p:nvSpPr>
        <p:spPr bwMode="auto">
          <a:xfrm>
            <a:off x="361950" y="236538"/>
            <a:ext cx="11410950" cy="752475"/>
          </a:xfrm>
        </p:spPr>
        <p:txBody>
          <a:bodyPr>
            <a:noAutofit/>
          </a:bodyPr>
          <a:lstStyle/>
          <a:p>
            <a:pPr>
              <a:defRPr/>
            </a:pPr>
            <a:br>
              <a:rPr lang="en-US" sz="4800" b="1"/>
            </a:br>
            <a:r>
              <a:rPr lang="en-US" sz="4800" b="1"/>
              <a:t>Data Preprocessing Strategy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73569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Calibri"/>
                <a:ea typeface="Calibri"/>
                <a:cs typeface="Calibri"/>
              </a:rPr>
              <a:t>Model 1: </a:t>
            </a:r>
            <a:r>
              <a:rPr lang="en-US" sz="4000" b="1">
                <a:latin typeface="Calibri"/>
                <a:ea typeface="Calibri"/>
                <a:cs typeface="Calibri"/>
              </a:rPr>
              <a:t>TabNet</a:t>
            </a:r>
            <a:r>
              <a:rPr lang="en-US" sz="4000" b="1">
                <a:latin typeface="Calibri"/>
                <a:ea typeface="Calibri"/>
                <a:cs typeface="Calibri"/>
              </a:rPr>
              <a:t> Classifier</a:t>
            </a:r>
            <a:endParaRPr/>
          </a:p>
        </p:txBody>
      </p:sp>
      <p:sp>
        <p:nvSpPr>
          <p:cNvPr id="498140566" name="Content Placeholder 2"/>
          <p:cNvSpPr>
            <a:spLocks noGrp="1"/>
          </p:cNvSpPr>
          <p:nvPr>
            <p:ph idx="1"/>
          </p:nvPr>
        </p:nvSpPr>
        <p:spPr bwMode="auto">
          <a:xfrm>
            <a:off x="362174" y="988908"/>
            <a:ext cx="11817818" cy="4975012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None/>
              <a:defRPr/>
            </a:pPr>
            <a:r>
              <a:rPr lang="en-US" sz="2000"/>
              <a:t>  ✔</a:t>
            </a:r>
            <a:r>
              <a:rPr sz="2000"/>
              <a:t> </a:t>
            </a:r>
            <a:r>
              <a:rPr lang="en-US" sz="2000" b="1"/>
              <a:t>Why </a:t>
            </a:r>
            <a:r>
              <a:rPr lang="en-US" sz="2000" b="1"/>
              <a:t>TabNet</a:t>
            </a:r>
            <a:r>
              <a:rPr lang="en-US" sz="2000" b="1"/>
              <a:t>?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Self-attentive deep learning model</a:t>
            </a:r>
            <a:br>
              <a:rPr lang="en-US" sz="2000"/>
            </a:br>
            <a:r>
              <a:rPr lang="en-US" sz="2000"/>
              <a:t>	Learns feature importance dynamically</a:t>
            </a:r>
            <a:br>
              <a:rPr lang="en-US" sz="2000"/>
            </a:br>
            <a:r>
              <a:rPr lang="en-US" sz="2000"/>
              <a:t>	Suitable for structured data with missing values</a:t>
            </a:r>
            <a:endParaRPr/>
          </a:p>
          <a:p>
            <a:pPr>
              <a:buNone/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  ✔</a:t>
            </a:r>
            <a:r>
              <a:rPr sz="2000">
                <a:latin typeface="Calibri"/>
                <a:ea typeface="Calibri"/>
                <a:cs typeface="Calibri"/>
              </a:rPr>
              <a:t> </a:t>
            </a:r>
            <a:r>
              <a:rPr lang="en-US" sz="2000" b="1">
                <a:latin typeface="Calibri"/>
                <a:ea typeface="Calibri"/>
                <a:cs typeface="Calibri"/>
              </a:rPr>
              <a:t>TabNet</a:t>
            </a:r>
            <a:r>
              <a:rPr lang="en-US" sz="2000" b="1">
                <a:latin typeface="Calibri"/>
                <a:ea typeface="Calibri"/>
                <a:cs typeface="Calibri"/>
              </a:rPr>
              <a:t> Configuration:</a:t>
            </a:r>
            <a:br>
              <a:rPr lang="en-US" sz="2000" b="1"/>
            </a:br>
            <a:r>
              <a:rPr lang="en-US" sz="2000" b="1">
                <a:latin typeface="Calibri"/>
                <a:ea typeface="Calibri"/>
                <a:cs typeface="Calibri"/>
              </a:rPr>
              <a:t>	</a:t>
            </a:r>
            <a:r>
              <a:rPr lang="en-US" sz="2000">
                <a:latin typeface="Calibri"/>
                <a:ea typeface="Calibri"/>
                <a:cs typeface="Calibri"/>
              </a:rPr>
              <a:t>Hidden Layers: 16 neurons</a:t>
            </a:r>
            <a:br>
              <a:rPr lang="en-US" sz="2000" b="1"/>
            </a:br>
            <a:r>
              <a:rPr lang="en-US" sz="2000" b="1">
                <a:latin typeface="Calibri"/>
                <a:ea typeface="Calibri"/>
                <a:cs typeface="Calibri"/>
              </a:rPr>
              <a:t>	</a:t>
            </a:r>
            <a:r>
              <a:rPr lang="en-US" sz="2000">
                <a:latin typeface="Calibri"/>
                <a:ea typeface="Calibri"/>
                <a:cs typeface="Calibri"/>
              </a:rPr>
              <a:t>Decision Steps: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</a:rPr>
              <a:t>5</a:t>
            </a:r>
            <a:br>
              <a:rPr lang="en-US" sz="2000"/>
            </a:br>
            <a:r>
              <a:rPr lang="en-US" sz="2000" b="1">
                <a:latin typeface="Calibri"/>
                <a:ea typeface="Calibri"/>
                <a:cs typeface="Calibri"/>
              </a:rPr>
              <a:t>	</a:t>
            </a:r>
            <a:r>
              <a:rPr lang="en-US" sz="2000">
                <a:latin typeface="Calibri"/>
                <a:ea typeface="Calibri"/>
                <a:cs typeface="Calibri"/>
              </a:rPr>
              <a:t>Optimizer: Adam (LR = 0.02)</a:t>
            </a:r>
            <a:br>
              <a:rPr lang="en-US" sz="2000" b="1"/>
            </a:br>
            <a:r>
              <a:rPr lang="en-US" sz="2000" b="1">
                <a:latin typeface="Calibri"/>
                <a:ea typeface="Calibri"/>
                <a:cs typeface="Calibri"/>
              </a:rPr>
              <a:t>	</a:t>
            </a:r>
            <a:r>
              <a:rPr lang="en-US" sz="2000">
                <a:latin typeface="Calibri"/>
                <a:ea typeface="Calibri"/>
                <a:cs typeface="Calibri"/>
              </a:rPr>
              <a:t>Activation: </a:t>
            </a:r>
            <a:r>
              <a:rPr lang="en-US" sz="2000">
                <a:latin typeface="Calibri"/>
                <a:ea typeface="Calibri"/>
                <a:cs typeface="Calibri"/>
              </a:rPr>
              <a:t>Entmax</a:t>
            </a:r>
            <a:r>
              <a:rPr lang="en-US" sz="2000">
                <a:latin typeface="Calibri"/>
                <a:ea typeface="Calibri"/>
                <a:cs typeface="Calibri"/>
              </a:rPr>
              <a:t> (Better than </a:t>
            </a:r>
            <a:r>
              <a:rPr lang="en-US" sz="2000">
                <a:latin typeface="Calibri"/>
                <a:ea typeface="Calibri"/>
                <a:cs typeface="Calibri"/>
              </a:rPr>
              <a:t>Softmax</a:t>
            </a:r>
            <a:r>
              <a:rPr lang="en-US" sz="2000">
                <a:latin typeface="Calibri"/>
                <a:ea typeface="Calibri"/>
                <a:cs typeface="Calibri"/>
              </a:rPr>
              <a:t>)</a:t>
            </a:r>
            <a:endParaRPr/>
          </a:p>
          <a:p>
            <a:pPr>
              <a:defRPr/>
            </a:pPr>
            <a:r>
              <a:rPr lang="en-US" sz="2000"/>
              <a:t>✔</a:t>
            </a:r>
            <a:r>
              <a:rPr sz="2000"/>
              <a:t> </a:t>
            </a:r>
            <a:r>
              <a:rPr lang="en-US" sz="2000" b="1"/>
              <a:t>Training Strategy: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Trained each chunk separately (max 5 epochs per chunk)</a:t>
            </a:r>
            <a:br>
              <a:rPr lang="en-US" sz="2000"/>
            </a:br>
            <a:r>
              <a:rPr lang="en-US" sz="2000"/>
              <a:t>	Used early stopping (patience = 2)</a:t>
            </a:r>
            <a:br>
              <a:rPr lang="en-US" sz="2000"/>
            </a:br>
            <a:r>
              <a:rPr lang="en-US" sz="2000"/>
              <a:t>	Evaluated accuracy after each chunk</a:t>
            </a:r>
            <a:endParaRPr/>
          </a:p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None/>
              <a:defRPr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9258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Calibri"/>
                <a:ea typeface="Calibri"/>
                <a:cs typeface="Calibri"/>
              </a:rPr>
              <a:t>Model 2: 3-Layer Neural Network</a:t>
            </a:r>
            <a:endParaRPr/>
          </a:p>
        </p:txBody>
      </p:sp>
      <p:sp>
        <p:nvSpPr>
          <p:cNvPr id="1106275671" name="Content Placeholder 4"/>
          <p:cNvSpPr>
            <a:spLocks noGrp="1"/>
          </p:cNvSpPr>
          <p:nvPr>
            <p:ph idx="1"/>
          </p:nvPr>
        </p:nvSpPr>
        <p:spPr bwMode="auto">
          <a:xfrm>
            <a:off x="362174" y="988908"/>
            <a:ext cx="11411418" cy="4713802"/>
          </a:xfrm>
        </p:spPr>
        <p:txBody>
          <a:bodyPr>
            <a:normAutofit fontScale="92500" lnSpcReduction="10000"/>
          </a:bodyPr>
          <a:lstStyle/>
          <a:p>
            <a:pPr>
              <a:buNone/>
              <a:defRPr/>
            </a:pPr>
            <a:r>
              <a:rPr lang="en-US"/>
              <a:t>  </a:t>
            </a:r>
            <a:r>
              <a:rPr lang="en-US" sz="2200"/>
              <a:t>✔</a:t>
            </a:r>
            <a:r>
              <a:rPr sz="2200"/>
              <a:t> </a:t>
            </a:r>
            <a:r>
              <a:rPr lang="en-US" sz="2200" b="1"/>
              <a:t>Why a Fully Connected Network?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/>
              <a:t>Simple &amp; effective for binary classification</a:t>
            </a:r>
            <a:br>
              <a:rPr lang="en-US" sz="2200"/>
            </a:br>
            <a:r>
              <a:rPr lang="en-US" sz="2200"/>
              <a:t>	Works well when trained on large datasets</a:t>
            </a:r>
            <a:endParaRPr/>
          </a:p>
          <a:p>
            <a:pPr>
              <a:buNone/>
              <a:defRPr/>
            </a:pPr>
            <a:r>
              <a:rPr lang="en-US" sz="2200"/>
              <a:t>  ✔</a:t>
            </a:r>
            <a:r>
              <a:rPr sz="2200"/>
              <a:t> </a:t>
            </a:r>
            <a:r>
              <a:rPr lang="en-US" sz="2200" b="1"/>
              <a:t>Neural Network Architecture:</a:t>
            </a:r>
            <a:br>
              <a:rPr lang="en-US" sz="2200" b="1"/>
            </a:br>
            <a:r>
              <a:rPr lang="en-US" sz="2200" b="1"/>
              <a:t>	Input:</a:t>
            </a:r>
            <a:r>
              <a:rPr lang="en-US" sz="2200"/>
              <a:t> 39 features (13 numerical + 26 categorical)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b="1"/>
              <a:t>Hidden Layers:</a:t>
            </a:r>
            <a:br>
              <a:rPr lang="en-US" sz="2200" b="1"/>
            </a:br>
            <a:r>
              <a:rPr lang="en-US" sz="2200" b="1"/>
              <a:t>		</a:t>
            </a:r>
            <a:r>
              <a:rPr lang="en-US" sz="2200"/>
              <a:t>Layer 1: 256 neurons, </a:t>
            </a:r>
            <a:r>
              <a:rPr lang="en-US" sz="2200"/>
              <a:t>ReLU</a:t>
            </a:r>
            <a:br>
              <a:rPr lang="en-US" sz="2200"/>
            </a:br>
            <a:r>
              <a:rPr lang="en-US" sz="2200"/>
              <a:t>		Layer 2: 128 neurons, </a:t>
            </a:r>
            <a:r>
              <a:rPr lang="en-US" sz="2200"/>
              <a:t>ReLU</a:t>
            </a:r>
            <a:br>
              <a:rPr lang="en-US" sz="2200"/>
            </a:br>
            <a:r>
              <a:rPr lang="en-US" sz="2200"/>
              <a:t>		Layer 3: 2 neurons, </a:t>
            </a:r>
            <a:r>
              <a:rPr lang="en-US" sz="2200"/>
              <a:t>Softmax</a:t>
            </a:r>
            <a:endParaRPr lang="en-US" sz="2200"/>
          </a:p>
          <a:p>
            <a:pPr>
              <a:defRPr/>
            </a:pPr>
            <a:r>
              <a:rPr lang="en-US" sz="2200"/>
              <a:t> ✔</a:t>
            </a:r>
            <a:r>
              <a:rPr sz="2200"/>
              <a:t> </a:t>
            </a:r>
            <a:r>
              <a:rPr lang="en-US" sz="2200" b="1"/>
              <a:t>Training Strategy:</a:t>
            </a:r>
            <a:br>
              <a:rPr lang="en-US" sz="2200" b="1"/>
            </a:br>
            <a:r>
              <a:rPr lang="en-US" sz="2200" b="1"/>
              <a:t>	</a:t>
            </a:r>
            <a:r>
              <a:rPr lang="en-US" sz="2200"/>
              <a:t>Trained on chunk-wise data</a:t>
            </a:r>
            <a:br>
              <a:rPr lang="en-US" sz="2200"/>
            </a:br>
            <a:r>
              <a:rPr lang="en-US" sz="2200"/>
              <a:t>	Optimizer: Adam (LR = 0.001)</a:t>
            </a:r>
            <a:br>
              <a:rPr lang="en-US" sz="2200"/>
            </a:br>
            <a:r>
              <a:rPr lang="en-US" sz="2200"/>
              <a:t>	Loss Function: </a:t>
            </a:r>
            <a:r>
              <a:rPr lang="en-US" sz="2200"/>
              <a:t>CrossEntropyLoss</a:t>
            </a:r>
            <a:endParaRPr lang="en-US" sz="22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79973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Calibri"/>
                <a:ea typeface="Calibri"/>
                <a:cs typeface="Calibri"/>
              </a:rPr>
              <a:t>Model Comparison</a:t>
            </a:r>
            <a:endParaRPr/>
          </a:p>
        </p:txBody>
      </p:sp>
      <p:sp>
        <p:nvSpPr>
          <p:cNvPr id="2086898674" name="Content Placeholder 2"/>
          <p:cNvSpPr>
            <a:spLocks noGrp="1"/>
          </p:cNvSpPr>
          <p:nvPr>
            <p:ph idx="1"/>
          </p:nvPr>
        </p:nvSpPr>
        <p:spPr bwMode="auto">
          <a:xfrm>
            <a:off x="487768" y="1134051"/>
            <a:ext cx="11157418" cy="4805946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Clr>
                <a:srgbClr val="1CADE4"/>
              </a:buClr>
              <a:buFont typeface="Arial"/>
              <a:buChar char="•"/>
              <a:defRPr/>
            </a:pPr>
            <a:endParaRPr lang="en-US" sz="1800">
              <a:ea typeface="Calibri"/>
            </a:endParaRPr>
          </a:p>
          <a:p>
            <a:pPr marL="486409" lvl="1" indent="-285750">
              <a:buFont typeface="Arial"/>
              <a:buChar char="•"/>
              <a:defRPr/>
            </a:pPr>
            <a:endParaRPr lang="en-US">
              <a:ea typeface="Calibri"/>
            </a:endParaRPr>
          </a:p>
        </p:txBody>
      </p:sp>
      <p:graphicFrame>
        <p:nvGraphicFramePr>
          <p:cNvPr id="1417485183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842296" y="1535744"/>
          <a:ext cx="10051845" cy="350820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350615"/>
                <a:gridCol w="3350615"/>
                <a:gridCol w="3350615"/>
              </a:tblGrid>
              <a:tr h="50117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Feature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TabNet</a:t>
                      </a:r>
                      <a:r>
                        <a:rPr lang="en-US" b="1"/>
                        <a:t> Classifier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3-Layer Neural Network</a:t>
                      </a:r>
                      <a:endParaRPr lang="en-US"/>
                    </a:p>
                  </a:txBody>
                  <a:tcPr anchor="ctr"/>
                </a:tc>
              </a:tr>
              <a:tr h="50117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Architecture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Self-attentive model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Fully connected MLP</a:t>
                      </a:r>
                      <a:endParaRPr/>
                    </a:p>
                  </a:txBody>
                  <a:tcPr anchor="ctr"/>
                </a:tc>
              </a:tr>
              <a:tr h="50117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/>
                        <a:t>Feature Selection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Learns dynamically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Uses all features</a:t>
                      </a:r>
                      <a:endParaRPr/>
                    </a:p>
                  </a:txBody>
                  <a:tcPr anchor="ctr"/>
                </a:tc>
              </a:tr>
              <a:tr h="50117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Scalability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Efficient for large datasets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Requires careful tuning</a:t>
                      </a:r>
                      <a:endParaRPr/>
                    </a:p>
                  </a:txBody>
                  <a:tcPr anchor="ctr"/>
                </a:tc>
              </a:tr>
              <a:tr h="50117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Interpretability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High (Feature importance)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Low</a:t>
                      </a:r>
                      <a:endParaRPr/>
                    </a:p>
                  </a:txBody>
                  <a:tcPr/>
                </a:tc>
              </a:tr>
              <a:tr h="50117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/>
                        <a:t>Training Speed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Slower due to complexity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Faster</a:t>
                      </a:r>
                      <a:endParaRPr/>
                    </a:p>
                  </a:txBody>
                  <a:tcPr/>
                </a:tc>
              </a:tr>
              <a:tr h="50117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b="1"/>
                        <a:t>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/>
                        <a:t>Higher (~81.2%)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/>
                        <a:t>Lower (~79.5%)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183416" name="Title 1"/>
          <p:cNvSpPr>
            <a:spLocks noGrp="1"/>
          </p:cNvSpPr>
          <p:nvPr>
            <p:ph type="title"/>
          </p:nvPr>
        </p:nvSpPr>
        <p:spPr bwMode="auto">
          <a:xfrm>
            <a:off x="362174" y="235804"/>
            <a:ext cx="11827095" cy="88827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>
                <a:latin typeface="Calibri"/>
                <a:ea typeface="Calibri"/>
                <a:cs typeface="Calibri"/>
              </a:rPr>
              <a:t>Results &amp; Final Accuracy</a:t>
            </a:r>
            <a:endParaRPr lang="en-US" sz="40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6238205" name="Content Placeholder 2"/>
          <p:cNvSpPr>
            <a:spLocks noGrp="1"/>
          </p:cNvSpPr>
          <p:nvPr>
            <p:ph idx="1"/>
          </p:nvPr>
        </p:nvSpPr>
        <p:spPr bwMode="auto">
          <a:xfrm>
            <a:off x="507317" y="1449401"/>
            <a:ext cx="13331658" cy="4109933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None/>
              <a:defRPr/>
            </a:pPr>
            <a:r>
              <a:rPr lang="en-US" sz="2000"/>
              <a:t>✔ </a:t>
            </a:r>
            <a:r>
              <a:rPr lang="en-US" sz="2000" b="1"/>
              <a:t>TabNet</a:t>
            </a:r>
            <a:r>
              <a:rPr lang="en-US" sz="2000" b="1"/>
              <a:t> Accuracy per Chunk: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1 → </a:t>
            </a:r>
            <a:r>
              <a:rPr lang="en-US" sz="2000" b="1"/>
              <a:t>80.5%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2 → </a:t>
            </a:r>
            <a:r>
              <a:rPr lang="en-US" sz="2000" b="1"/>
              <a:t>81.2%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3 → </a:t>
            </a:r>
            <a:r>
              <a:rPr lang="en-US" sz="2000" b="1"/>
              <a:t>82.1%</a:t>
            </a:r>
            <a:br>
              <a:rPr lang="en-US" sz="2000"/>
            </a:br>
            <a:r>
              <a:rPr sz="2000"/>
              <a:t>✅ </a:t>
            </a:r>
            <a:r>
              <a:rPr lang="en-US" sz="2000" b="1"/>
              <a:t>Final </a:t>
            </a:r>
            <a:r>
              <a:rPr lang="en-US" sz="2000" b="1"/>
              <a:t>TabNet</a:t>
            </a:r>
            <a:r>
              <a:rPr lang="en-US" sz="2000" b="1"/>
              <a:t> Accuracy: 81.2%</a:t>
            </a:r>
            <a:endParaRPr lang="en-US" sz="2000"/>
          </a:p>
          <a:p>
            <a:pPr>
              <a:buNone/>
              <a:defRPr/>
            </a:pPr>
            <a:r>
              <a:rPr lang="en-US" sz="2000"/>
              <a:t>✔ </a:t>
            </a:r>
            <a:r>
              <a:rPr lang="en-US" sz="2000" b="1"/>
              <a:t>3-Layer Neural Network Accuracy per Chunk: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1 → </a:t>
            </a:r>
            <a:r>
              <a:rPr lang="en-US" sz="2000" b="1"/>
              <a:t>78.4%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2 → </a:t>
            </a:r>
            <a:r>
              <a:rPr lang="en-US" sz="2000" b="1"/>
              <a:t>79.2%</a:t>
            </a:r>
            <a:br>
              <a:rPr lang="en-US" sz="2000" b="1"/>
            </a:br>
            <a:r>
              <a:rPr lang="en-US" sz="2000" b="1"/>
              <a:t>	</a:t>
            </a:r>
            <a:r>
              <a:rPr lang="en-US" sz="2000"/>
              <a:t>Chunk 3 → </a:t>
            </a:r>
            <a:r>
              <a:rPr lang="en-US" sz="2000" b="1"/>
              <a:t>80.1%</a:t>
            </a:r>
            <a:br>
              <a:rPr lang="en-US" sz="2000"/>
            </a:br>
            <a:r>
              <a:rPr sz="2000"/>
              <a:t>✅ </a:t>
            </a:r>
            <a:r>
              <a:rPr lang="en-US" sz="2000" b="1"/>
              <a:t>Final NN Accuracy: 79.5%</a:t>
            </a:r>
            <a:endParaRPr lang="en-US" sz="2000"/>
          </a:p>
          <a:p>
            <a:pPr indent="-274320">
              <a:buClr>
                <a:schemeClr val="tx1"/>
              </a:buClr>
              <a:buFont typeface="Arial"/>
              <a:buChar char="•"/>
              <a:defRPr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678506" name="Title 1"/>
          <p:cNvSpPr>
            <a:spLocks noGrp="1"/>
          </p:cNvSpPr>
          <p:nvPr>
            <p:ph type="title"/>
          </p:nvPr>
        </p:nvSpPr>
        <p:spPr bwMode="auto">
          <a:xfrm>
            <a:off x="603794" y="115334"/>
            <a:ext cx="10058400" cy="145075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defRPr/>
            </a:pPr>
            <a:r>
              <a:rPr lang="en-US" sz="4000" b="1">
                <a:latin typeface="Calibri"/>
                <a:ea typeface="Calibri"/>
                <a:cs typeface="Calibri"/>
              </a:rPr>
              <a:t>Best Model Recommendation</a:t>
            </a:r>
            <a:br>
              <a:rPr lang="en-US" sz="4000" b="1"/>
            </a:br>
            <a:endParaRPr sz="4000"/>
          </a:p>
        </p:txBody>
      </p:sp>
      <p:sp>
        <p:nvSpPr>
          <p:cNvPr id="4310908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7422" y="1177472"/>
            <a:ext cx="10375209" cy="4492049"/>
          </a:xfrm>
        </p:spPr>
        <p:txBody>
          <a:bodyPr vert="horz" lIns="0" tIns="45720" rIns="0" bIns="45720" rtlCol="0" anchor="t">
            <a:normAutofit fontScale="47500" lnSpcReduction="20000"/>
          </a:bodyPr>
          <a:lstStyle/>
          <a:p>
            <a:pPr>
              <a:buNone/>
              <a:defRPr/>
            </a:pPr>
            <a:r>
              <a:rPr sz="4000">
                <a:latin typeface="Calibri"/>
                <a:ea typeface="Calibri"/>
                <a:cs typeface="Calibri"/>
              </a:rPr>
              <a:t> </a:t>
            </a:r>
            <a:r>
              <a:rPr lang="en-US" sz="4000" b="1">
                <a:latin typeface="Calibri"/>
                <a:ea typeface="Calibri"/>
                <a:cs typeface="Calibri"/>
              </a:rPr>
              <a:t>Which Model is Better?</a:t>
            </a:r>
            <a:r>
              <a:rPr lang="en-US" sz="4000">
                <a:latin typeface="Calibri"/>
                <a:ea typeface="Calibri"/>
                <a:cs typeface="Calibri"/>
              </a:rPr>
              <a:t> </a:t>
            </a:r>
            <a:endParaRPr/>
          </a:p>
          <a:p>
            <a:pPr>
              <a:buNone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  ✔ </a:t>
            </a:r>
            <a:r>
              <a:rPr lang="en-US" sz="4000" b="1">
                <a:latin typeface="Calibri"/>
                <a:ea typeface="Calibri"/>
                <a:cs typeface="Calibri"/>
              </a:rPr>
              <a:t>TabNet</a:t>
            </a:r>
            <a:r>
              <a:rPr lang="en-US" sz="4000">
                <a:latin typeface="Calibri"/>
                <a:ea typeface="Calibri"/>
                <a:cs typeface="Calibri"/>
              </a:rPr>
              <a:t> achieves higher accuracy</a:t>
            </a:r>
            <a:r>
              <a:rPr lang="en-US" sz="4000" b="1">
                <a:latin typeface="Calibri"/>
                <a:ea typeface="Calibri"/>
                <a:cs typeface="Calibri"/>
              </a:rPr>
              <a:t> (~81.2%)</a:t>
            </a:r>
            <a:r>
              <a:rPr lang="en-US" sz="4000">
                <a:latin typeface="Calibri"/>
                <a:ea typeface="Calibri"/>
                <a:cs typeface="Calibri"/>
              </a:rPr>
              <a:t> vs. 3-layer NN (</a:t>
            </a:r>
            <a:r>
              <a:rPr lang="en-US" sz="4000" b="1">
                <a:latin typeface="Calibri"/>
                <a:ea typeface="Calibri"/>
                <a:cs typeface="Calibri"/>
              </a:rPr>
              <a:t>~79.5%</a:t>
            </a:r>
            <a:r>
              <a:rPr lang="en-US" sz="4000">
                <a:latin typeface="Calibri"/>
                <a:ea typeface="Calibri"/>
                <a:cs typeface="Calibri"/>
              </a:rPr>
              <a:t>). </a:t>
            </a:r>
            <a:endParaRPr/>
          </a:p>
          <a:p>
            <a:pPr>
              <a:buNone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  ✔ </a:t>
            </a:r>
            <a:r>
              <a:rPr lang="en-US" sz="4000" b="1">
                <a:latin typeface="Calibri"/>
                <a:ea typeface="Calibri"/>
                <a:cs typeface="Calibri"/>
              </a:rPr>
              <a:t>TabNet</a:t>
            </a:r>
            <a:r>
              <a:rPr lang="en-US" sz="4000">
                <a:latin typeface="Calibri"/>
                <a:ea typeface="Calibri"/>
                <a:cs typeface="Calibri"/>
              </a:rPr>
              <a:t> dynamically selects important features → </a:t>
            </a:r>
            <a:r>
              <a:rPr lang="en-US" sz="4000" b="1">
                <a:latin typeface="Calibri"/>
                <a:ea typeface="Calibri"/>
                <a:cs typeface="Calibri"/>
              </a:rPr>
              <a:t>more interpretability</a:t>
            </a:r>
            <a:r>
              <a:rPr lang="en-US" sz="4000">
                <a:latin typeface="Calibri"/>
                <a:ea typeface="Calibri"/>
                <a:cs typeface="Calibri"/>
              </a:rPr>
              <a:t>. </a:t>
            </a:r>
            <a:endParaRPr/>
          </a:p>
          <a:p>
            <a:pPr>
              <a:buNone/>
              <a:defRPr/>
            </a:pPr>
            <a:r>
              <a:rPr lang="en-US" sz="4000">
                <a:latin typeface="Calibri"/>
                <a:ea typeface="Calibri"/>
                <a:cs typeface="Calibri"/>
              </a:rPr>
              <a:t>  ✔ </a:t>
            </a:r>
            <a:r>
              <a:rPr lang="en-US" sz="4000" b="1">
                <a:latin typeface="Calibri"/>
                <a:ea typeface="Calibri"/>
                <a:cs typeface="Calibri"/>
              </a:rPr>
              <a:t>3-layer NN</a:t>
            </a:r>
            <a:r>
              <a:rPr lang="en-US" sz="4000">
                <a:latin typeface="Calibri"/>
                <a:ea typeface="Calibri"/>
                <a:cs typeface="Calibri"/>
              </a:rPr>
              <a:t> is </a:t>
            </a:r>
            <a:r>
              <a:rPr lang="en-US" sz="4000" b="1">
                <a:latin typeface="Calibri"/>
                <a:ea typeface="Calibri"/>
                <a:cs typeface="Calibri"/>
              </a:rPr>
              <a:t>faster</a:t>
            </a:r>
            <a:r>
              <a:rPr lang="en-US" sz="4000">
                <a:latin typeface="Calibri"/>
                <a:ea typeface="Calibri"/>
                <a:cs typeface="Calibri"/>
              </a:rPr>
              <a:t> but lacks feature selection capabilities.</a:t>
            </a:r>
            <a:endParaRPr/>
          </a:p>
          <a:p>
            <a:pPr>
              <a:buNone/>
              <a:defRPr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buNone/>
              <a:defRPr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sz="4000">
                <a:latin typeface="Calibri"/>
                <a:ea typeface="Calibri"/>
                <a:cs typeface="Calibri"/>
              </a:rPr>
              <a:t>✅ </a:t>
            </a:r>
            <a:r>
              <a:rPr lang="en-US" sz="4000" b="1">
                <a:latin typeface="Calibri"/>
                <a:ea typeface="Calibri"/>
                <a:cs typeface="Calibri"/>
              </a:rPr>
              <a:t>Final Choice:</a:t>
            </a:r>
            <a:r>
              <a:rPr lang="en-US" sz="4000">
                <a:latin typeface="Calibri"/>
                <a:ea typeface="Calibri"/>
                <a:cs typeface="Calibri"/>
              </a:rPr>
              <a:t> </a:t>
            </a:r>
            <a:r>
              <a:rPr lang="en-US" sz="4000" b="1">
                <a:latin typeface="Calibri"/>
                <a:ea typeface="Calibri"/>
                <a:cs typeface="Calibri"/>
              </a:rPr>
              <a:t>TabNet</a:t>
            </a:r>
            <a:r>
              <a:rPr lang="en-US" sz="4000" b="1">
                <a:latin typeface="Calibri"/>
                <a:ea typeface="Calibri"/>
                <a:cs typeface="Calibri"/>
              </a:rPr>
              <a:t> Classifier is the superior model</a:t>
            </a:r>
            <a:r>
              <a:rPr lang="en-US" sz="4000">
                <a:latin typeface="Calibri"/>
                <a:ea typeface="Calibri"/>
                <a:cs typeface="Calibri"/>
              </a:rPr>
              <a:t> for structured data with mixed numerical &amp; categorical features.</a:t>
            </a:r>
            <a:endParaRPr/>
          </a:p>
          <a:p>
            <a:pPr indent="-457200">
              <a:lnSpc>
                <a:spcPct val="100000"/>
              </a:lnSpc>
              <a:buClr>
                <a:schemeClr val="tx1"/>
              </a:buClr>
              <a:buFont typeface="Arial"/>
              <a:buChar char="•"/>
              <a:defRPr/>
            </a:pPr>
            <a:endParaRPr lang="en-US" sz="2400">
              <a:ea typeface="Calibri"/>
            </a:endParaRPr>
          </a:p>
          <a:p>
            <a:pPr marL="0" indent="0">
              <a:spcBef>
                <a:spcPts val="1300"/>
              </a:spcBef>
              <a:buClr>
                <a:srgbClr val="000000"/>
              </a:buClr>
              <a:buNone/>
              <a:defRPr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buClr>
                <a:srgbClr val="000000"/>
              </a:buClr>
              <a:buFont typeface="Arial"/>
              <a:buChar char="•"/>
              <a:defRPr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457200" lvl="1" indent="0">
              <a:buClr>
                <a:schemeClr val="tx1"/>
              </a:buClr>
              <a:buNone/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		</a:t>
            </a:r>
            <a:endParaRPr sz="2000">
              <a:latin typeface="Calibri"/>
              <a:ea typeface="Calibri"/>
              <a:cs typeface="Calibri"/>
            </a:endParaRPr>
          </a:p>
        </p:txBody>
      </p:sp>
      <p:sp>
        <p:nvSpPr>
          <p:cNvPr id="749377019" name="Content Placeholder 5"/>
          <p:cNvSpPr>
            <a:spLocks noGrp="1"/>
          </p:cNvSpPr>
          <p:nvPr>
            <p:ph sz="half" idx="2"/>
          </p:nvPr>
        </p:nvSpPr>
        <p:spPr bwMode="auto">
          <a:xfrm>
            <a:off x="181562" y="840712"/>
            <a:ext cx="11444951" cy="4481006"/>
          </a:xfrm>
        </p:spPr>
        <p:txBody>
          <a:bodyPr vert="horz" lIns="0" tIns="45720" rIns="0" bIns="45720" rtlCol="0" anchor="t">
            <a:normAutofit fontScale="47500" lnSpcReduction="20000"/>
          </a:bodyPr>
          <a:lstStyle/>
          <a:p>
            <a:pPr marL="0" indent="0">
              <a:spcBef>
                <a:spcPts val="1300"/>
              </a:spcBef>
              <a:buNone/>
              <a:defRPr/>
            </a:pPr>
            <a:endParaRPr lang="en-US" sz="2400">
              <a:ea typeface="Calibri"/>
            </a:endParaRPr>
          </a:p>
          <a:p>
            <a:pPr marL="0" indent="0">
              <a:buNone/>
              <a:defRPr/>
            </a:pPr>
            <a:endParaRPr lang="en-US">
              <a:ea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117054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800" b="1">
                <a:ea typeface="Calibri"/>
              </a:rPr>
              <a:t>Future Improvements</a:t>
            </a:r>
            <a:endParaRPr lang="en-US"/>
          </a:p>
        </p:txBody>
      </p:sp>
      <p:sp>
        <p:nvSpPr>
          <p:cNvPr id="1040615602" name="Content Placeholder 6"/>
          <p:cNvSpPr>
            <a:spLocks noGrp="1"/>
          </p:cNvSpPr>
          <p:nvPr>
            <p:ph idx="1"/>
          </p:nvPr>
        </p:nvSpPr>
        <p:spPr bwMode="auto">
          <a:xfrm>
            <a:off x="362174" y="1009635"/>
            <a:ext cx="11573978" cy="4256148"/>
          </a:xfrm>
        </p:spPr>
        <p:txBody>
          <a:bodyPr vert="horz" lIns="0" tIns="45720" rIns="0" bIns="45720" rtlCol="0" anchor="t">
            <a:normAutofit/>
          </a:bodyPr>
          <a:lstStyle/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    ✔ </a:t>
            </a:r>
            <a:r>
              <a:rPr lang="en-US" sz="2000" b="1">
                <a:latin typeface="Calibri"/>
                <a:ea typeface="Calibri"/>
                <a:cs typeface="Arial"/>
              </a:rPr>
              <a:t>TabNet</a:t>
            </a:r>
            <a:r>
              <a:rPr lang="en-US" sz="2000" b="1">
                <a:latin typeface="Calibri"/>
                <a:ea typeface="Calibri"/>
                <a:cs typeface="Arial"/>
              </a:rPr>
              <a:t>:</a:t>
            </a:r>
            <a:br>
              <a:rPr lang="en-US" sz="2000" b="1">
                <a:latin typeface="Calibri"/>
                <a:ea typeface="Calibri"/>
                <a:cs typeface="Arial"/>
              </a:rPr>
            </a:br>
            <a:r>
              <a:rPr lang="en-US" sz="2000">
                <a:latin typeface="Calibri"/>
                <a:ea typeface="Calibri"/>
                <a:cs typeface="Arial"/>
              </a:rPr>
              <a:t>     Optimize hyperparameters for better accuracy. </a:t>
            </a:r>
            <a:endParaRPr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     Try alternative activation functions. </a:t>
            </a:r>
            <a:endParaRPr lang="en-US"/>
          </a:p>
          <a:p>
            <a:pPr marL="474980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    ✔ </a:t>
            </a:r>
            <a:r>
              <a:rPr lang="en-US" sz="2000" b="1">
                <a:latin typeface="Calibri"/>
                <a:ea typeface="Calibri"/>
                <a:cs typeface="Arial"/>
              </a:rPr>
              <a:t>3-Layer NN:</a:t>
            </a:r>
            <a:r>
              <a:rPr lang="en-US" sz="2000">
                <a:latin typeface="Calibri"/>
                <a:ea typeface="Calibri"/>
                <a:cs typeface="Arial"/>
              </a:rPr>
              <a:t> </a:t>
            </a:r>
            <a:endParaRPr lang="en-US" sz="2000" b="1">
              <a:latin typeface="Calibri"/>
              <a:ea typeface="Calibri"/>
              <a:cs typeface="Arial"/>
            </a:endParaRPr>
          </a:p>
          <a:p>
            <a:pPr marL="474980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    Use </a:t>
            </a:r>
            <a:r>
              <a:rPr lang="en-US" sz="2000" b="1">
                <a:latin typeface="Calibri"/>
                <a:ea typeface="Calibri"/>
                <a:cs typeface="Arial"/>
              </a:rPr>
              <a:t>batch normalization &amp; dropout</a:t>
            </a:r>
            <a:r>
              <a:rPr lang="en-US" sz="2000">
                <a:latin typeface="Calibri"/>
                <a:ea typeface="Calibri"/>
                <a:cs typeface="Arial"/>
              </a:rPr>
              <a:t> for better generalization.</a:t>
            </a:r>
            <a:br>
              <a:rPr lang="en-US" sz="2000">
                <a:latin typeface="Calibri"/>
                <a:ea typeface="Calibri"/>
                <a:cs typeface="Arial"/>
              </a:rPr>
            </a:br>
            <a:r>
              <a:rPr lang="en-US" sz="2000">
                <a:latin typeface="Calibri"/>
                <a:ea typeface="Calibri"/>
                <a:cs typeface="Arial"/>
              </a:rPr>
              <a:t>    Implement </a:t>
            </a:r>
            <a:r>
              <a:rPr lang="en-US" sz="2000" b="1">
                <a:latin typeface="Calibri"/>
                <a:ea typeface="Calibri"/>
                <a:cs typeface="Arial"/>
              </a:rPr>
              <a:t>embedding layers</a:t>
            </a:r>
            <a:r>
              <a:rPr lang="en-US" sz="2000">
                <a:latin typeface="Calibri"/>
                <a:ea typeface="Calibri"/>
                <a:cs typeface="Arial"/>
              </a:rPr>
              <a:t> for categorical features. </a:t>
            </a:r>
            <a:endParaRPr/>
          </a:p>
          <a:p>
            <a:pPr marL="474980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latin typeface="Calibri"/>
                <a:ea typeface="Calibri"/>
                <a:cs typeface="Arial"/>
              </a:rPr>
              <a:t>    ✔ </a:t>
            </a:r>
            <a:r>
              <a:rPr lang="en-US" sz="2000" b="1">
                <a:latin typeface="Calibri"/>
                <a:ea typeface="Calibri"/>
                <a:cs typeface="Arial"/>
              </a:rPr>
              <a:t>Both Models:</a:t>
            </a:r>
            <a:br>
              <a:rPr lang="en-US" sz="2000" b="1">
                <a:latin typeface="Calibri"/>
                <a:ea typeface="Calibri"/>
                <a:cs typeface="Arial"/>
              </a:rPr>
            </a:br>
            <a:r>
              <a:rPr lang="en-US" sz="2000">
                <a:latin typeface="Calibri"/>
                <a:ea typeface="Calibri"/>
                <a:cs typeface="Arial"/>
              </a:rPr>
              <a:t>    Experiment with </a:t>
            </a:r>
            <a:r>
              <a:rPr lang="en-US" sz="2000" b="1">
                <a:latin typeface="Calibri"/>
                <a:ea typeface="Calibri"/>
                <a:cs typeface="Arial"/>
              </a:rPr>
              <a:t>larger datasets</a:t>
            </a:r>
            <a:r>
              <a:rPr lang="en-US" sz="2000">
                <a:latin typeface="Calibri"/>
                <a:ea typeface="Calibri"/>
                <a:cs typeface="Arial"/>
              </a:rPr>
              <a:t>.</a:t>
            </a:r>
            <a:br>
              <a:rPr lang="en-US" sz="2000">
                <a:latin typeface="Calibri"/>
                <a:ea typeface="Calibri"/>
                <a:cs typeface="Arial"/>
              </a:rPr>
            </a:br>
            <a:r>
              <a:rPr lang="en-US" sz="2000">
                <a:latin typeface="Calibri"/>
                <a:ea typeface="Calibri"/>
                <a:cs typeface="Arial"/>
              </a:rPr>
              <a:t>    Use </a:t>
            </a:r>
            <a:r>
              <a:rPr lang="en-US" sz="2000" b="1">
                <a:latin typeface="Calibri"/>
                <a:ea typeface="Calibri"/>
                <a:cs typeface="Arial"/>
              </a:rPr>
              <a:t>distributed training</a:t>
            </a:r>
            <a:r>
              <a:rPr lang="en-US" sz="2000">
                <a:latin typeface="Calibri"/>
                <a:ea typeface="Calibri"/>
                <a:cs typeface="Arial"/>
              </a:rPr>
              <a:t> for efficiency.</a:t>
            </a:r>
            <a:endParaRPr lang="en-US" sz="2000">
              <a:latin typeface="Calibri"/>
              <a:ea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94379" name="Content Placeholder 2"/>
          <p:cNvSpPr>
            <a:spLocks noGrp="1"/>
          </p:cNvSpPr>
          <p:nvPr>
            <p:ph idx="1"/>
          </p:nvPr>
        </p:nvSpPr>
        <p:spPr bwMode="auto">
          <a:xfrm>
            <a:off x="362174" y="236591"/>
            <a:ext cx="11411418" cy="5551769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defRPr/>
            </a:pPr>
            <a:endParaRPr lang="en-US" sz="7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endParaRPr lang="en-US" sz="7200">
              <a:ea typeface="Calibri"/>
            </a:endParaRPr>
          </a:p>
        </p:txBody>
      </p:sp>
      <p:sp>
        <p:nvSpPr>
          <p:cNvPr id="1214293263" name="Rectangle 1"/>
          <p:cNvSpPr/>
          <p:nvPr/>
        </p:nvSpPr>
        <p:spPr bwMode="auto">
          <a:xfrm>
            <a:off x="3755923" y="1779639"/>
            <a:ext cx="455233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ea typeface="Calibri"/>
              </a:rPr>
              <a:t>Thank You!</a:t>
            </a:r>
            <a:endParaRPr/>
          </a:p>
          <a:p>
            <a:pPr algn="ctr">
              <a:defRPr/>
            </a:pPr>
            <a:endParaRPr sz="5400" b="1">
              <a:ln w="22225">
                <a:solidFill>
                  <a:schemeClr val="accent2"/>
                </a:solidFill>
                <a:prstDash val="solid"/>
              </a:ln>
            </a:endParaRPr>
          </a:p>
        </p:txBody>
      </p:sp>
      <p:pic>
        <p:nvPicPr>
          <p:cNvPr id="70411085" name="Graphic 11" descr="Smiling face outline with solid fill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6388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88908" name="Content Placeholder 2"/>
          <p:cNvSpPr>
            <a:spLocks noGrp="1"/>
          </p:cNvSpPr>
          <p:nvPr>
            <p:ph idx="1"/>
          </p:nvPr>
        </p:nvSpPr>
        <p:spPr bwMode="auto">
          <a:xfrm>
            <a:off x="362174" y="475130"/>
            <a:ext cx="11411418" cy="5288493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>
              <a:defRPr/>
            </a:pPr>
            <a:endParaRPr lang="en-US" sz="3600">
              <a:latin typeface="Calibri"/>
              <a:ea typeface="Calibri"/>
              <a:cs typeface="Calibri"/>
            </a:endParaRPr>
          </a:p>
          <a:p>
            <a:pPr algn="ctr">
              <a:defRPr/>
            </a:pPr>
            <a:endParaRPr lang="en-US" sz="3600">
              <a:latin typeface="Calibri"/>
              <a:ea typeface="Calibri"/>
              <a:cs typeface="Calibri"/>
            </a:endParaRPr>
          </a:p>
          <a:p>
            <a:pPr algn="ctr">
              <a:defRPr/>
            </a:pPr>
            <a:endParaRPr lang="en-US" sz="3600">
              <a:ea typeface="Calibri"/>
            </a:endParaRPr>
          </a:p>
          <a:p>
            <a:pPr algn="ctr">
              <a:defRPr/>
            </a:pPr>
            <a:endParaRPr lang="en-US" sz="3600">
              <a:ea typeface="Calibri"/>
            </a:endParaRPr>
          </a:p>
          <a:p>
            <a:pPr algn="ctr">
              <a:defRPr/>
            </a:pPr>
            <a:endParaRPr lang="en-US" sz="3600">
              <a:ea typeface="Calibri"/>
            </a:endParaRPr>
          </a:p>
          <a:p>
            <a:pPr algn="ctr">
              <a:defRPr/>
            </a:pPr>
            <a:endParaRPr lang="en-US" sz="3600">
              <a:ea typeface="Calibri"/>
            </a:endParaRPr>
          </a:p>
          <a:p>
            <a:pPr algn="ctr">
              <a:defRPr/>
            </a:pPr>
            <a:endParaRPr lang="en-US" sz="3600">
              <a:ea typeface="Calibri"/>
            </a:endParaRPr>
          </a:p>
        </p:txBody>
      </p:sp>
      <p:sp>
        <p:nvSpPr>
          <p:cNvPr id="1698632284" name="Rectangle 1"/>
          <p:cNvSpPr/>
          <p:nvPr/>
        </p:nvSpPr>
        <p:spPr bwMode="auto">
          <a:xfrm>
            <a:off x="3559277" y="1494502"/>
            <a:ext cx="496529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/>
            </a:pPr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latin typeface="Calibri"/>
                <a:ea typeface="Calibri"/>
                <a:cs typeface="Calibri"/>
              </a:rPr>
              <a:t>Questions??</a:t>
            </a:r>
            <a:endParaRPr sz="5400" b="1" cap="none" spc="0">
              <a:ln w="12700">
                <a:solidFill>
                  <a:schemeClr val="accent1"/>
                </a:solidFill>
                <a:prstDash val="solid"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ookman Old Style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Retrospect"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/>
        </a:gradFill>
        <a:gradFill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DF75B5294A3046BD7AE4004C437BB9" ma:contentTypeVersion="4" ma:contentTypeDescription="Create a new document." ma:contentTypeScope="" ma:versionID="7e34041cdab35060e54959754038d6fa">
  <xsd:schema xmlns:xsd="http://www.w3.org/2001/XMLSchema" xmlns:xs="http://www.w3.org/2001/XMLSchema" xmlns:p="http://schemas.microsoft.com/office/2006/metadata/properties" xmlns:ns2="e99152f4-6c8a-4d4d-b4b9-37447abf562f" targetNamespace="http://schemas.microsoft.com/office/2006/metadata/properties" ma:root="true" ma:fieldsID="0f273262ef3b423821ecc7d9521c327b" ns2:_="">
    <xsd:import namespace="e99152f4-6c8a-4d4d-b4b9-37447abf56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152f4-6c8a-4d4d-b4b9-37447abf5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C41A3E-840E-445C-A674-51B1586E8AC0}">
  <ds:schemaRefs>
    <ds:schemaRef ds:uri="e99152f4-6c8a-4d4d-b4b9-37447abf56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2DC06EE1-1D65-4E3B-8769-A5B9DAEF0814}">
  <ds:schemaRefs>
    <ds:schemaRef ds:uri="e99152f4-6c8a-4d4d-b4b9-37447abf56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11F98772-C3B1-42A7-9EF6-AF4BD3962B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Aalto University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Linear Regression Model in Python</dc:title>
  <dc:creator>Dayama Niraj</dc:creator>
  <cp:lastModifiedBy/>
  <cp:revision>57</cp:revision>
  <dcterms:created xsi:type="dcterms:W3CDTF">2022-12-14T09:48:17Z</dcterms:created>
  <dcterms:modified xsi:type="dcterms:W3CDTF">2026-01-08T13:30:16Z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0x01010036DF75B5294A3046BD7AE4004C437BB9</vt:lpwstr>
  </property>
</Properties>
</file>